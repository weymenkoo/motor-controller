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chemeClr val="tx1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FOC Motor Controller Rev 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S_TW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chemeClr val="tx1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FOC Motor Controller Rev 1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57200" y="1234440"/>
            <a:ext cx="5486400" cy="4480560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45352" y="1234440"/>
            <a:ext cx="5486400" cy="4480560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6" name="Text 3"/>
          <p:cNvSpPr/>
          <p:nvPr>
            <p:ph idx="104" hasCustomPrompt="1"/>
          </p:nvPr>
        </p:nvSpPr>
        <p:spPr>
          <a:xfrm>
            <a:off x="457200" y="1234440"/>
            <a:ext cx="5486400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tx1"/>
                </a:solidFill>
              </a:rPr>
              <a:t>Insert photo</a:t>
            </a:r>
            <a:endParaRPr lang="en-US" dirty="0"/>
          </a:p>
        </p:txBody>
      </p:sp>
      <p:sp>
        <p:nvSpPr>
          <p:cNvPr id="7" name="Text 3"/>
          <p:cNvSpPr/>
          <p:nvPr>
            <p:ph idx="105" hasCustomPrompt="1"/>
          </p:nvPr>
        </p:nvSpPr>
        <p:spPr>
          <a:xfrm>
            <a:off x="6245352" y="1234440"/>
            <a:ext cx="5486400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tx1"/>
                </a:solidFill>
              </a:rPr>
              <a:t>Insert photo</a:t>
            </a:r>
            <a:endParaRPr lang="en-US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457200" y="5806440"/>
            <a:ext cx="5486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9" name="Text 3"/>
          <p:cNvSpPr/>
          <p:nvPr>
            <p:ph idx="107" type="body" hasCustomPrompt="1"/>
          </p:nvPr>
        </p:nvSpPr>
        <p:spPr>
          <a:xfrm>
            <a:off x="6245352" y="5806440"/>
            <a:ext cx="5486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ON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chemeClr val="tx1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FOC Motor Controller Rev 1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57200" y="1234440"/>
            <a:ext cx="7680960" cy="4937760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5" name="Text 2"/>
          <p:cNvSpPr/>
          <p:nvPr>
            <p:ph idx="103" hasCustomPrompt="1"/>
          </p:nvPr>
        </p:nvSpPr>
        <p:spPr>
          <a:xfrm>
            <a:off x="457200" y="1234440"/>
            <a:ext cx="7680960" cy="4937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tx1"/>
                </a:solidFill>
              </a:rPr>
              <a:t>Insert photo</a:t>
            </a:r>
            <a:endParaRPr lang="en-US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8412480" y="1234440"/>
            <a:ext cx="3291840" cy="4937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FOC motor controller, Rev 1</a:t>
            </a:r>
            <a:endParaRPr lang="en-US" sz="2600" dirty="0"/>
          </a:p>
        </p:txBody>
      </p:sp>
      <p:sp>
        <p:nvSpPr>
          <p:cNvPr id="3" name="text-1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Single-axis sensored FOC, 12S bus, one per joint of a QDD robot leg. 70 x 70 mm, 6 layers.</a:t>
            </a:r>
            <a:endParaRPr lang="en-US" sz="1200" dirty="0"/>
          </a:p>
        </p:txBody>
      </p:sp>
      <p:pic>
        <p:nvPicPr>
          <p:cNvPr id="4" name="img-2" descr="Top view of the board, 3D ren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371600"/>
            <a:ext cx="4846320" cy="4846320"/>
          </a:xfrm>
          <a:prstGeom prst="rect">
            <a:avLst/>
          </a:prstGeom>
        </p:spPr>
      </p:pic>
      <p:sp>
        <p:nvSpPr>
          <p:cNvPr id="5" name="note-3"/>
          <p:cNvSpPr txBox="1"/>
          <p:nvPr/>
        </p:nvSpPr>
        <p:spPr>
          <a:xfrm>
            <a:off x="457200" y="1371600"/>
            <a:ext cx="283464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outputs A/B/C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Bolt-on pads to the MN601-S windings.</a:t>
            </a:r>
            <a:endParaRPr lang="en-US" sz="1200" dirty="0"/>
          </a:p>
        </p:txBody>
      </p:sp>
      <p:sp>
        <p:nvSpPr>
          <p:cNvPr id="6" name="arrow-4"/>
          <p:cNvSpPr/>
          <p:nvPr/>
        </p:nvSpPr>
        <p:spPr>
          <a:xfrm>
            <a:off x="3291840" y="1648533"/>
            <a:ext cx="2005149" cy="91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7" name="note-5"/>
          <p:cNvSpPr txBox="1"/>
          <p:nvPr/>
        </p:nvSpPr>
        <p:spPr>
          <a:xfrm>
            <a:off x="457200" y="2148840"/>
            <a:ext cx="283464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3-phase bridge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6x ISC030N10NM6, 100 V, 3.0 mΩ max, TDSON-8.</a:t>
            </a:r>
            <a:endParaRPr lang="en-US" sz="1200" dirty="0"/>
          </a:p>
        </p:txBody>
      </p:sp>
      <p:sp>
        <p:nvSpPr>
          <p:cNvPr id="8" name="arrow-6"/>
          <p:cNvSpPr/>
          <p:nvPr/>
        </p:nvSpPr>
        <p:spPr>
          <a:xfrm>
            <a:off x="3291840" y="2237014"/>
            <a:ext cx="1658983" cy="91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9" name="note-7"/>
          <p:cNvSpPr txBox="1"/>
          <p:nvPr/>
        </p:nvSpPr>
        <p:spPr>
          <a:xfrm>
            <a:off x="457200" y="3108960"/>
            <a:ext cx="283464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DRV8323S gate driver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IDRIVE 1/2 A, 3x CSA G=20, VDS/OCP faults, SPI.</a:t>
            </a:r>
            <a:endParaRPr lang="en-US" sz="1200" dirty="0"/>
          </a:p>
        </p:txBody>
      </p:sp>
      <p:sp>
        <p:nvSpPr>
          <p:cNvPr id="10" name="arrow-8"/>
          <p:cNvSpPr/>
          <p:nvPr/>
        </p:nvSpPr>
        <p:spPr>
          <a:xfrm>
            <a:off x="3291840" y="3465903"/>
            <a:ext cx="1433975" cy="91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1" name="note-9"/>
          <p:cNvSpPr txBox="1"/>
          <p:nvPr/>
        </p:nvSpPr>
        <p:spPr>
          <a:xfrm>
            <a:off x="457200" y="4251960"/>
            <a:ext cx="2834640" cy="4754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SWD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3V3, NRST, SWCLK, SWDIO, GND.</a:t>
            </a:r>
            <a:endParaRPr lang="en-US" sz="1200" dirty="0"/>
          </a:p>
        </p:txBody>
      </p:sp>
      <p:sp>
        <p:nvSpPr>
          <p:cNvPr id="12" name="arrow-10"/>
          <p:cNvSpPr/>
          <p:nvPr/>
        </p:nvSpPr>
        <p:spPr>
          <a:xfrm flipV="1">
            <a:off x="3291840" y="3962304"/>
            <a:ext cx="464711" cy="289656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note-11"/>
          <p:cNvSpPr txBox="1"/>
          <p:nvPr/>
        </p:nvSpPr>
        <p:spPr>
          <a:xfrm>
            <a:off x="457200" y="5257800"/>
            <a:ext cx="283464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CAN-FD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TCAN1044A, 2 connectors for daisy-chain.</a:t>
            </a:r>
            <a:endParaRPr lang="en-US" sz="1200" dirty="0"/>
          </a:p>
        </p:txBody>
      </p:sp>
      <p:sp>
        <p:nvSpPr>
          <p:cNvPr id="14" name="arrow-12"/>
          <p:cNvSpPr/>
          <p:nvPr/>
        </p:nvSpPr>
        <p:spPr>
          <a:xfrm>
            <a:off x="3291840" y="5802521"/>
            <a:ext cx="2559014" cy="91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note-13"/>
          <p:cNvSpPr txBox="1"/>
          <p:nvPr/>
        </p:nvSpPr>
        <p:spPr>
          <a:xfrm>
            <a:off x="8869680" y="1371600"/>
            <a:ext cx="283464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Bus input +/-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12S, 56 V max, TVS clamp only.</a:t>
            </a:r>
            <a:endParaRPr lang="en-US" sz="1200" dirty="0"/>
          </a:p>
        </p:txBody>
      </p:sp>
      <p:sp>
        <p:nvSpPr>
          <p:cNvPr id="16" name="arrow-14"/>
          <p:cNvSpPr/>
          <p:nvPr/>
        </p:nvSpPr>
        <p:spPr>
          <a:xfrm flipH="1">
            <a:off x="7270133" y="1648533"/>
            <a:ext cx="1599547" cy="91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7" name="note-15"/>
          <p:cNvSpPr txBox="1"/>
          <p:nvPr/>
        </p:nvSpPr>
        <p:spPr>
          <a:xfrm>
            <a:off x="8869680" y="2148840"/>
            <a:ext cx="283464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Low-side shunts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3x 3 mΩ 2512, Kelvin net ties, ±27.5 A FS.</a:t>
            </a:r>
            <a:endParaRPr lang="en-US" sz="1200" dirty="0"/>
          </a:p>
        </p:txBody>
      </p:sp>
      <p:sp>
        <p:nvSpPr>
          <p:cNvPr id="18" name="arrow-16"/>
          <p:cNvSpPr/>
          <p:nvPr/>
        </p:nvSpPr>
        <p:spPr>
          <a:xfrm flipH="1">
            <a:off x="6023937" y="2773571"/>
            <a:ext cx="2845743" cy="91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9" name="note-17"/>
          <p:cNvSpPr txBox="1"/>
          <p:nvPr/>
        </p:nvSpPr>
        <p:spPr>
          <a:xfrm>
            <a:off x="8869680" y="3108960"/>
            <a:ext cx="283464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DC link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3x 100 µF/100 V + 12x 4.7 µF X7R.</a:t>
            </a:r>
            <a:endParaRPr lang="en-US" sz="1200" dirty="0"/>
          </a:p>
        </p:txBody>
      </p:sp>
      <p:sp>
        <p:nvSpPr>
          <p:cNvPr id="20" name="arrow-18"/>
          <p:cNvSpPr/>
          <p:nvPr/>
        </p:nvSpPr>
        <p:spPr>
          <a:xfrm flipH="1" flipV="1">
            <a:off x="6993201" y="3033195"/>
            <a:ext cx="1876479" cy="75765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1" name="note-19"/>
          <p:cNvSpPr txBox="1"/>
          <p:nvPr/>
        </p:nvSpPr>
        <p:spPr>
          <a:xfrm>
            <a:off x="8869680" y="3886200"/>
            <a:ext cx="283464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Encoder (B.Cu, behind)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AS5047P 14-bit, SPI, on the rotor axis.</a:t>
            </a:r>
            <a:endParaRPr lang="en-US" sz="1200" dirty="0"/>
          </a:p>
        </p:txBody>
      </p:sp>
      <p:sp>
        <p:nvSpPr>
          <p:cNvPr id="22" name="arrow-20"/>
          <p:cNvSpPr/>
          <p:nvPr/>
        </p:nvSpPr>
        <p:spPr>
          <a:xfrm flipH="1" flipV="1">
            <a:off x="5989320" y="3794760"/>
            <a:ext cx="2880360" cy="9144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3" name="note-21"/>
          <p:cNvSpPr txBox="1"/>
          <p:nvPr/>
        </p:nvSpPr>
        <p:spPr>
          <a:xfrm>
            <a:off x="8869680" y="4846320"/>
            <a:ext cx="2834640" cy="84124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STM32G431RB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170 MHz. TIM1 centre-aligned 25 kHz, ADC injected at the counter peak.</a:t>
            </a:r>
            <a:endParaRPr lang="en-US" sz="1200" dirty="0"/>
          </a:p>
        </p:txBody>
      </p:sp>
      <p:sp>
        <p:nvSpPr>
          <p:cNvPr id="24" name="arrow-22"/>
          <p:cNvSpPr/>
          <p:nvPr/>
        </p:nvSpPr>
        <p:spPr>
          <a:xfrm flipH="1" flipV="1">
            <a:off x="6560493" y="4660174"/>
            <a:ext cx="2309187" cy="186146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ring-23"/>
          <p:cNvSpPr/>
          <p:nvPr/>
        </p:nvSpPr>
        <p:spPr>
          <a:xfrm>
            <a:off x="5833872" y="3639312"/>
            <a:ext cx="310896" cy="310896"/>
          </a:xfrm>
          <a:prstGeom prst="ellipse">
            <a:avLst/>
          </a:prstGeom>
          <a:ln w="19050">
            <a:solidFill>
              <a:schemeClr val="bg1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Back-simulation for bench correlation</a:t>
            </a:r>
            <a:endParaRPr lang="en-US" sz="2600" dirty="0"/>
          </a:p>
        </p:txBody>
      </p:sp>
      <p:sp>
        <p:nvSpPr>
          <p:cNvPr id="3" name="lines-24"/>
          <p:cNvSpPr txBox="1"/>
          <p:nvPr/>
        </p:nvSpPr>
        <p:spPr>
          <a:xfrm>
            <a:off x="457200" y="1280160"/>
            <a:ext cx="112471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Three LTspice decks built from the Rev 1 netlist, the DRV8323 / TIM1 settings in firmware, and the motor constants the firmware measured (MN601-S: R 98 mΩ, Ld 7.9 µH, Lq 11.0 µH, λ 1.389 mV·s, 14 pole pairs).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Operating point: 30 V / 5 A, the KA3005P limit. 25 kHz centre-aligned, 200 ns dead time, IDRIVE code 15, CSA G = 20.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Scope: each deck predicts a waveform the DHO804 (70 MHz, 12-bit) can capture. A 10x probe model (150 nH ground lead, 12 pF tip, 70 MHz) is included where it changes what the scope shows.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Every result is a .meas in the log, not a cursor reading. MOSFET model: behavioural VDMOS fit of the ISC030N10NM6, checked against the datasheet (Rds(on) 2.55 mΩ, Qg 55 nC, Qgd 9.6 nC, plateau 4.6 V).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Left out on purpose: IDRIVE / dead-time sweeps, thermal, ISR budget. They can't be checked one-to-one on this bench.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Sim 1 · Hot-plug: circuit</a:t>
            </a:r>
            <a:endParaRPr lang="en-US" sz="2600" dirty="0"/>
          </a:p>
        </p:txBody>
      </p:sp>
      <p:pic>
        <p:nvPicPr>
          <p:cNvPr id="3" name="img-25" descr="LTspice schematic of the hot-plug simul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89460"/>
            <a:ext cx="8778240" cy="3553601"/>
          </a:xfrm>
          <a:prstGeom prst="rect">
            <a:avLst/>
          </a:prstGeom>
        </p:spPr>
      </p:pic>
      <p:sp>
        <p:nvSpPr>
          <p:cNvPr id="4" name="note-26"/>
          <p:cNvSpPr txBox="1"/>
          <p:nvPr/>
        </p:nvSpPr>
        <p:spPr>
          <a:xfrm>
            <a:off x="457200" y="1143000"/>
            <a:ext cx="2103120" cy="84124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Vsup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 V step, 50 ns edge: XT60 into a live supply.</a:t>
            </a:r>
            <a:endParaRPr lang="en-US" sz="1200" dirty="0"/>
          </a:p>
        </p:txBody>
      </p:sp>
      <p:sp>
        <p:nvSpPr>
          <p:cNvPr id="5" name="arrow-27"/>
          <p:cNvSpPr/>
          <p:nvPr/>
        </p:nvSpPr>
        <p:spPr>
          <a:xfrm>
            <a:off x="880311" y="1984248"/>
            <a:ext cx="914" cy="1831915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6" name="note-28"/>
          <p:cNvSpPr txBox="1"/>
          <p:nvPr/>
        </p:nvSpPr>
        <p:spPr>
          <a:xfrm>
            <a:off x="2697480" y="1143000"/>
            <a:ext cx="210312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Leads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60 mΩ; Llead stepped 0.5 / 2 µH.</a:t>
            </a:r>
            <a:endParaRPr lang="en-US" sz="1200" dirty="0"/>
          </a:p>
        </p:txBody>
      </p:sp>
      <p:sp>
        <p:nvSpPr>
          <p:cNvPr id="7" name="arrow-29"/>
          <p:cNvSpPr/>
          <p:nvPr/>
        </p:nvSpPr>
        <p:spPr>
          <a:xfrm flipH="1">
            <a:off x="2361200" y="1801368"/>
            <a:ext cx="336280" cy="1803355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note-30"/>
          <p:cNvSpPr txBox="1"/>
          <p:nvPr/>
        </p:nvSpPr>
        <p:spPr>
          <a:xfrm>
            <a:off x="4937760" y="1143000"/>
            <a:ext cx="210312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Bulk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3x 100 µF, ESR stepped 0.03 / 0.3 Ω.</a:t>
            </a:r>
            <a:endParaRPr lang="en-US" sz="1200" dirty="0"/>
          </a:p>
        </p:txBody>
      </p:sp>
      <p:sp>
        <p:nvSpPr>
          <p:cNvPr id="9" name="arrow-31"/>
          <p:cNvSpPr/>
          <p:nvPr/>
        </p:nvSpPr>
        <p:spPr>
          <a:xfrm flipH="1">
            <a:off x="3841212" y="1801368"/>
            <a:ext cx="1096548" cy="2311165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note-32"/>
          <p:cNvSpPr txBox="1"/>
          <p:nvPr/>
        </p:nvSpPr>
        <p:spPr>
          <a:xfrm>
            <a:off x="7178040" y="1143000"/>
            <a:ext cx="210312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D1 SMCJ51CA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VBR min 56.7 V, Rd 1.4 Ω.</a:t>
            </a:r>
            <a:endParaRPr lang="en-US" sz="1200" dirty="0"/>
          </a:p>
        </p:txBody>
      </p:sp>
      <p:sp>
        <p:nvSpPr>
          <p:cNvPr id="11" name="arrow-33"/>
          <p:cNvSpPr/>
          <p:nvPr/>
        </p:nvSpPr>
        <p:spPr>
          <a:xfrm flipH="1">
            <a:off x="5195694" y="1801368"/>
            <a:ext cx="1982346" cy="2311165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note-34"/>
          <p:cNvSpPr txBox="1"/>
          <p:nvPr/>
        </p:nvSpPr>
        <p:spPr>
          <a:xfrm>
            <a:off x="9464040" y="3931920"/>
            <a:ext cx="2240280" cy="84124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VBAT_SENSE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12.4k / 2k, 100 nF, τ = 172 µs. Feeds the firmware OV check.</a:t>
            </a:r>
            <a:endParaRPr lang="en-US" sz="1200" dirty="0"/>
          </a:p>
        </p:txBody>
      </p:sp>
      <p:sp>
        <p:nvSpPr>
          <p:cNvPr id="13" name="arrow-35"/>
          <p:cNvSpPr/>
          <p:nvPr/>
        </p:nvSpPr>
        <p:spPr>
          <a:xfrm flipH="1">
            <a:off x="6887261" y="4535411"/>
            <a:ext cx="2576779" cy="91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4" name="note-36"/>
          <p:cNvSpPr txBox="1"/>
          <p:nvPr/>
        </p:nvSpPr>
        <p:spPr>
          <a:xfrm>
            <a:off x="9464040" y="2514600"/>
            <a:ext cx="2240280" cy="84124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Ceramics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12x 4.7 µF X7R, derated to 2.4 µF each at 30 V.</a:t>
            </a:r>
            <a:endParaRPr lang="en-US" sz="1200" dirty="0"/>
          </a:p>
        </p:txBody>
      </p:sp>
      <p:sp>
        <p:nvSpPr>
          <p:cNvPr id="15" name="arrow-37"/>
          <p:cNvSpPr/>
          <p:nvPr/>
        </p:nvSpPr>
        <p:spPr>
          <a:xfrm flipH="1">
            <a:off x="4518892" y="3355848"/>
            <a:ext cx="4945148" cy="756685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Sim 1 · Hot-plug: result</a:t>
            </a:r>
            <a:endParaRPr lang="en-US" sz="2600" dirty="0"/>
          </a:p>
        </p:txBody>
      </p:sp>
      <p:pic>
        <p:nvPicPr>
          <p:cNvPr id="3" name="img-38" descr="Bus voltage and cable current after plugging in, four cas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6400800" cy="5120640"/>
          </a:xfrm>
          <a:prstGeom prst="rect">
            <a:avLst/>
          </a:prstGeom>
        </p:spPr>
      </p:pic>
      <p:sp>
        <p:nvSpPr>
          <p:cNvPr id="4" name="note-39"/>
          <p:cNvSpPr txBox="1"/>
          <p:nvPr/>
        </p:nvSpPr>
        <p:spPr>
          <a:xfrm>
            <a:off x="7223760" y="1234440"/>
            <a:ext cx="448056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D1 thresholds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Stand-off 51 V, VBR min 56.7 V. Not reached in any case; D1 never conducts.</a:t>
            </a:r>
            <a:endParaRPr lang="en-US" sz="1200" dirty="0"/>
          </a:p>
        </p:txBody>
      </p:sp>
      <p:sp>
        <p:nvSpPr>
          <p:cNvPr id="5" name="arrow-40"/>
          <p:cNvSpPr/>
          <p:nvPr/>
        </p:nvSpPr>
        <p:spPr>
          <a:xfrm flipH="1">
            <a:off x="6055980" y="1833774"/>
            <a:ext cx="1167780" cy="91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6" name="note-41"/>
          <p:cNvSpPr txBox="1"/>
          <p:nvPr/>
        </p:nvSpPr>
        <p:spPr>
          <a:xfrm>
            <a:off x="7223760" y="2167128"/>
            <a:ext cx="4480560" cy="84124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Overshoot 36.3 V (+21 %)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Only with low-ESR bulk and 2 µH leads, ringing at 5.6 kHz. With 0.3 Ω ESR the lead LC is overdamped: 30.1 V.</a:t>
            </a:r>
            <a:endParaRPr lang="en-US" sz="1200" dirty="0"/>
          </a:p>
        </p:txBody>
      </p:sp>
      <p:sp>
        <p:nvSpPr>
          <p:cNvPr id="7" name="arrow-42"/>
          <p:cNvSpPr/>
          <p:nvPr/>
        </p:nvSpPr>
        <p:spPr>
          <a:xfrm flipH="1">
            <a:off x="2429927" y="2316139"/>
            <a:ext cx="4793833" cy="91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note-43"/>
          <p:cNvSpPr txBox="1"/>
          <p:nvPr/>
        </p:nvSpPr>
        <p:spPr>
          <a:xfrm>
            <a:off x="7223760" y="3282696"/>
            <a:ext cx="448056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Firmware view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VBAT_SENSE x 7.2. The 172 µs filter hides the transient from the OV check.</a:t>
            </a:r>
            <a:endParaRPr lang="en-US" sz="1200" dirty="0"/>
          </a:p>
        </p:txBody>
      </p:sp>
      <p:sp>
        <p:nvSpPr>
          <p:cNvPr id="9" name="arrow-44"/>
          <p:cNvSpPr/>
          <p:nvPr/>
        </p:nvSpPr>
        <p:spPr>
          <a:xfrm flipH="1" flipV="1">
            <a:off x="6469471" y="2644884"/>
            <a:ext cx="754289" cy="637812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note-45"/>
          <p:cNvSpPr txBox="1"/>
          <p:nvPr/>
        </p:nvSpPr>
        <p:spPr>
          <a:xfrm>
            <a:off x="7223760" y="4215384"/>
            <a:ext cx="4480560" cy="84124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Lead current 150-300 A peak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Bounded by the model: ideal source, no contact arc. Real peak is set by the supply's output ESR.</a:t>
            </a:r>
            <a:endParaRPr lang="en-US" sz="1200" dirty="0"/>
          </a:p>
        </p:txBody>
      </p:sp>
      <p:sp>
        <p:nvSpPr>
          <p:cNvPr id="11" name="arrow-46"/>
          <p:cNvSpPr/>
          <p:nvPr/>
        </p:nvSpPr>
        <p:spPr>
          <a:xfrm flipH="1" flipV="1">
            <a:off x="1412839" y="3805733"/>
            <a:ext cx="5810921" cy="409651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Sim 1 · Hot-plug: bench vs sim</a:t>
            </a:r>
            <a:endParaRPr lang="en-US" sz="2600" dirty="0"/>
          </a:p>
        </p:txBody>
      </p:sp>
      <p:sp>
        <p:nvSpPr>
          <p:cNvPr id="3" name="text-47"/>
          <p:cNvSpPr txBox="1"/>
          <p:nvPr/>
        </p:nvSpPr>
        <p:spPr>
          <a:xfrm>
            <a:off x="457200" y="91440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compared with: 01_hot_plug.asc (deck 01 at 30 V, ideal source)</a:t>
            </a:r>
            <a:endParaRPr lang="en-US" sz="1100" dirty="0"/>
          </a:p>
        </p:txBody>
      </p:sp>
      <p:pic>
        <p:nvPicPr>
          <p:cNvPr id="4" name="img-48" descr="Bench hot-plug captures, runs 4 and 5, against sim 0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775" y="1188720"/>
            <a:ext cx="6343650" cy="5074920"/>
          </a:xfrm>
          <a:prstGeom prst="rect">
            <a:avLst/>
          </a:prstGeom>
        </p:spPr>
      </p:pic>
      <p:sp>
        <p:nvSpPr>
          <p:cNvPr id="5" name="note-49"/>
          <p:cNvSpPr txBox="1"/>
          <p:nvPr/>
        </p:nvSpPr>
        <p:spPr>
          <a:xfrm>
            <a:off x="7223760" y="1188720"/>
            <a:ext cx="448056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Peak 30.15 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 overshoot, no ring. Runs 4 and 5 agree within 0.1 V after 1 ms.</a:t>
            </a:r>
            <a:endParaRPr lang="en-US" sz="1200" dirty="0"/>
          </a:p>
        </p:txBody>
      </p:sp>
      <p:sp>
        <p:nvSpPr>
          <p:cNvPr id="6" name="arrow-50"/>
          <p:cNvSpPr/>
          <p:nvPr/>
        </p:nvSpPr>
        <p:spPr>
          <a:xfrm flipH="1">
            <a:off x="5978107" y="1712452"/>
            <a:ext cx="1245653" cy="91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7" name="note-51"/>
          <p:cNvSpPr txBox="1"/>
          <p:nvPr/>
        </p:nvSpPr>
        <p:spPr>
          <a:xfrm>
            <a:off x="7223760" y="2048256"/>
            <a:ext cx="448056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CV recovery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Exponential to 29.9 V, τ = 6.2 / 6.8 ms (runs 4 / 5).</a:t>
            </a:r>
            <a:endParaRPr lang="en-US" sz="1200" dirty="0"/>
          </a:p>
        </p:txBody>
      </p:sp>
      <p:sp>
        <p:nvSpPr>
          <p:cNvPr id="8" name="arrow-52"/>
          <p:cNvSpPr/>
          <p:nvPr/>
        </p:nvSpPr>
        <p:spPr>
          <a:xfrm flipH="1" flipV="1">
            <a:off x="2657841" y="1769798"/>
            <a:ext cx="4565919" cy="278458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9" name="note-53"/>
          <p:cNvSpPr txBox="1"/>
          <p:nvPr/>
        </p:nvSpPr>
        <p:spPr>
          <a:xfrm>
            <a:off x="7223760" y="2907792"/>
            <a:ext cx="448056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Charge sharing, first 1 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Supply output cap dumps into the ~360 µF bus: 0 to 23.3 V in 1 ms.</a:t>
            </a:r>
            <a:endParaRPr lang="en-US" sz="1200" dirty="0"/>
          </a:p>
        </p:txBody>
      </p:sp>
      <p:sp>
        <p:nvSpPr>
          <p:cNvPr id="10" name="arrow-54"/>
          <p:cNvSpPr/>
          <p:nvPr/>
        </p:nvSpPr>
        <p:spPr>
          <a:xfrm flipH="1" flipV="1">
            <a:off x="1352952" y="2062114"/>
            <a:ext cx="5870808" cy="845678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1" name="note-55"/>
          <p:cNvSpPr txBox="1"/>
          <p:nvPr/>
        </p:nvSpPr>
        <p:spPr>
          <a:xfrm>
            <a:off x="7223760" y="3767328"/>
            <a:ext cx="4480560" cy="84124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Sim 01 assumed an ideal source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 V in 50 µs, 36.3 V worst case. The KA3005P can't slew that fast, so the overshoot case does not occur on this bench.</a:t>
            </a:r>
            <a:endParaRPr lang="en-US" sz="1200" dirty="0"/>
          </a:p>
        </p:txBody>
      </p:sp>
      <p:sp>
        <p:nvSpPr>
          <p:cNvPr id="12" name="arrow-56"/>
          <p:cNvSpPr/>
          <p:nvPr/>
        </p:nvSpPr>
        <p:spPr>
          <a:xfrm flipH="1">
            <a:off x="1343436" y="4136234"/>
            <a:ext cx="5880324" cy="91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note-57"/>
          <p:cNvSpPr txBox="1"/>
          <p:nvPr/>
        </p:nvSpPr>
        <p:spPr>
          <a:xfrm>
            <a:off x="7223760" y="4809744"/>
            <a:ext cx="448056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Bench, first 2 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XT60 make-break steps during insertion, then 24 V at 1 ms.</a:t>
            </a:r>
            <a:endParaRPr lang="en-US" sz="1200" dirty="0"/>
          </a:p>
        </p:txBody>
      </p:sp>
      <p:sp>
        <p:nvSpPr>
          <p:cNvPr id="14" name="arrow-58"/>
          <p:cNvSpPr/>
          <p:nvPr/>
        </p:nvSpPr>
        <p:spPr>
          <a:xfrm flipH="1" flipV="1">
            <a:off x="5211794" y="4669608"/>
            <a:ext cx="2011966" cy="140136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Sim 1 · Hot-plug: contact edge and steady state</a:t>
            </a:r>
            <a:endParaRPr lang="en-US" sz="2600" dirty="0"/>
          </a:p>
        </p:txBody>
      </p:sp>
      <p:pic>
        <p:nvPicPr>
          <p:cNvPr id="3" name="img-59" descr="Contact edge and steady state, runs 4 and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6400800" cy="5120640"/>
          </a:xfrm>
          <a:prstGeom prst="rect">
            <a:avLst/>
          </a:prstGeom>
        </p:spPr>
      </p:pic>
      <p:sp>
        <p:nvSpPr>
          <p:cNvPr id="4" name="note-60"/>
          <p:cNvSpPr txBox="1"/>
          <p:nvPr/>
        </p:nvSpPr>
        <p:spPr>
          <a:xfrm>
            <a:off x="7223760" y="1188720"/>
            <a:ext cx="4480560" cy="84124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Contact edge 0.12 V/µs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About 42 A into 360 µF, set by lead R/L and the supply's output impedance. Runs split at 85 µs: pin make-break.</a:t>
            </a:r>
            <a:endParaRPr lang="en-US" sz="1200" dirty="0"/>
          </a:p>
        </p:txBody>
      </p:sp>
      <p:sp>
        <p:nvSpPr>
          <p:cNvPr id="5" name="arrow-61"/>
          <p:cNvSpPr/>
          <p:nvPr/>
        </p:nvSpPr>
        <p:spPr>
          <a:xfrm flipH="1">
            <a:off x="2459370" y="2029968"/>
            <a:ext cx="4764390" cy="637447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6" name="note-62"/>
          <p:cNvSpPr txBox="1"/>
          <p:nvPr/>
        </p:nvSpPr>
        <p:spPr>
          <a:xfrm>
            <a:off x="7223760" y="2304288"/>
            <a:ext cx="4480560" cy="84124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Steady state 29.90 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≤ 0.37 V p-p at 5 V/div, mostly the scope noise floor. Real ripple needs AC coupling at 50 mV/div.</a:t>
            </a:r>
            <a:endParaRPr lang="en-US" sz="1200" dirty="0"/>
          </a:p>
        </p:txBody>
      </p:sp>
      <p:sp>
        <p:nvSpPr>
          <p:cNvPr id="7" name="arrow-63"/>
          <p:cNvSpPr/>
          <p:nvPr/>
        </p:nvSpPr>
        <p:spPr>
          <a:xfrm flipH="1">
            <a:off x="3922593" y="3145536"/>
            <a:ext cx="3301167" cy="1739628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note-64"/>
          <p:cNvSpPr txBox="1"/>
          <p:nvPr/>
        </p:nvSpPr>
        <p:spPr>
          <a:xfrm>
            <a:off x="7223760" y="4526280"/>
            <a:ext cx="4480560" cy="10241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DHO804 CH1, 10x probe, spring ground on C34, 3 V rising single trigger, 50 ms/div, 10 Mpts (80 ns/pt). Runs 1-3 discarded: the ground spring sat on flux residue and gave ±5 V steps.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Sim 2 · Half-bridge switching: circuit</a:t>
            </a:r>
            <a:endParaRPr lang="en-US" sz="2600" dirty="0"/>
          </a:p>
        </p:txBody>
      </p:sp>
      <p:pic>
        <p:nvPicPr>
          <p:cNvPr id="3" name="img-65" descr="LTspice schematic of one half-bridge l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2005121"/>
            <a:ext cx="6720840" cy="3396399"/>
          </a:xfrm>
          <a:prstGeom prst="rect">
            <a:avLst/>
          </a:prstGeom>
        </p:spPr>
      </p:pic>
      <p:sp>
        <p:nvSpPr>
          <p:cNvPr id="4" name="note-66"/>
          <p:cNvSpPr txBox="1"/>
          <p:nvPr/>
        </p:nvSpPr>
        <p:spPr>
          <a:xfrm>
            <a:off x="457200" y="1188720"/>
            <a:ext cx="214884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 / Q4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ISC030 VDMOS fit, 0.5 nH per lead.</a:t>
            </a:r>
            <a:endParaRPr lang="en-US" sz="1200" dirty="0"/>
          </a:p>
        </p:txBody>
      </p:sp>
      <p:sp>
        <p:nvSpPr>
          <p:cNvPr id="5" name="arrow-67"/>
          <p:cNvSpPr/>
          <p:nvPr/>
        </p:nvSpPr>
        <p:spPr>
          <a:xfrm>
            <a:off x="2606040" y="1847088"/>
            <a:ext cx="2900097" cy="1117515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6" name="note-68"/>
          <p:cNvSpPr txBox="1"/>
          <p:nvPr/>
        </p:nvSpPr>
        <p:spPr>
          <a:xfrm>
            <a:off x="457200" y="2075688"/>
            <a:ext cx="2148840" cy="84124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DRV8323 model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B-sources: 1 A source to VGS 11 V, 2 A sink, 150 kΩ RPD.</a:t>
            </a:r>
            <a:endParaRPr lang="en-US" sz="1200" dirty="0"/>
          </a:p>
        </p:txBody>
      </p:sp>
      <p:sp>
        <p:nvSpPr>
          <p:cNvPr id="7" name="arrow-69"/>
          <p:cNvSpPr/>
          <p:nvPr/>
        </p:nvSpPr>
        <p:spPr>
          <a:xfrm>
            <a:off x="2606040" y="2916936"/>
            <a:ext cx="2439720" cy="268433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note-70"/>
          <p:cNvSpPr txBox="1"/>
          <p:nvPr/>
        </p:nvSpPr>
        <p:spPr>
          <a:xfrm>
            <a:off x="457200" y="3145536"/>
            <a:ext cx="214884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TIM1 CH1/CH1N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 kHz, 50 %, 200 ns dead time.</a:t>
            </a:r>
            <a:endParaRPr lang="en-US" sz="1200" dirty="0"/>
          </a:p>
        </p:txBody>
      </p:sp>
      <p:sp>
        <p:nvSpPr>
          <p:cNvPr id="9" name="arrow-71"/>
          <p:cNvSpPr/>
          <p:nvPr/>
        </p:nvSpPr>
        <p:spPr>
          <a:xfrm>
            <a:off x="2606040" y="3803904"/>
            <a:ext cx="424812" cy="475106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note-72"/>
          <p:cNvSpPr txBox="1"/>
          <p:nvPr/>
        </p:nvSpPr>
        <p:spPr>
          <a:xfrm>
            <a:off x="457200" y="4032504"/>
            <a:ext cx="2148840" cy="84124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R22 shunt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mΩ + 0.6 nH. C38 100 nF bypasses the leg above it.</a:t>
            </a:r>
            <a:endParaRPr lang="en-US" sz="1200" dirty="0"/>
          </a:p>
        </p:txBody>
      </p:sp>
      <p:sp>
        <p:nvSpPr>
          <p:cNvPr id="11" name="arrow-73"/>
          <p:cNvSpPr/>
          <p:nvPr/>
        </p:nvSpPr>
        <p:spPr>
          <a:xfrm>
            <a:off x="2606040" y="4624423"/>
            <a:ext cx="2957897" cy="91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note-74"/>
          <p:cNvSpPr txBox="1"/>
          <p:nvPr/>
        </p:nvSpPr>
        <p:spPr>
          <a:xfrm>
            <a:off x="9601200" y="1188720"/>
            <a:ext cx="214884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RC snubbers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3.9 Ω + 2.2 nF across each FET.</a:t>
            </a:r>
            <a:endParaRPr lang="en-US" sz="1200" dirty="0"/>
          </a:p>
        </p:txBody>
      </p:sp>
      <p:sp>
        <p:nvSpPr>
          <p:cNvPr id="13" name="arrow-75"/>
          <p:cNvSpPr/>
          <p:nvPr/>
        </p:nvSpPr>
        <p:spPr>
          <a:xfrm flipH="1">
            <a:off x="6139913" y="1847088"/>
            <a:ext cx="3461287" cy="704853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4" name="note-76"/>
          <p:cNvSpPr txBox="1"/>
          <p:nvPr/>
        </p:nvSpPr>
        <p:spPr>
          <a:xfrm>
            <a:off x="9601200" y="2075688"/>
            <a:ext cx="214884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10x probe model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150 nH, 20 Ω, 12 pF tip, 70 MHz pole.</a:t>
            </a:r>
            <a:endParaRPr lang="en-US" sz="1200" dirty="0"/>
          </a:p>
        </p:txBody>
      </p:sp>
      <p:sp>
        <p:nvSpPr>
          <p:cNvPr id="15" name="arrow-77"/>
          <p:cNvSpPr/>
          <p:nvPr/>
        </p:nvSpPr>
        <p:spPr>
          <a:xfrm flipH="1">
            <a:off x="7492146" y="2734056"/>
            <a:ext cx="2109054" cy="476107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6" name="note-78"/>
          <p:cNvSpPr txBox="1"/>
          <p:nvPr/>
        </p:nvSpPr>
        <p:spPr>
          <a:xfrm>
            <a:off x="9601200" y="2962656"/>
            <a:ext cx="2148840" cy="10241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current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Stepped +5 / -2.5 A (ID_R hold, phases A and B/C). L/R = 96 µs &gt;&gt; edge.</a:t>
            </a:r>
            <a:endParaRPr lang="en-US" sz="1200" dirty="0"/>
          </a:p>
        </p:txBody>
      </p:sp>
      <p:sp>
        <p:nvSpPr>
          <p:cNvPr id="17" name="arrow-79"/>
          <p:cNvSpPr/>
          <p:nvPr/>
        </p:nvSpPr>
        <p:spPr>
          <a:xfrm flipH="1">
            <a:off x="6830143" y="3473044"/>
            <a:ext cx="2771057" cy="91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Sim 2 · Half-bridge switching: result</a:t>
            </a:r>
            <a:endParaRPr lang="en-US" sz="2600" dirty="0"/>
          </a:p>
        </p:txBody>
      </p:sp>
      <p:pic>
        <p:nvPicPr>
          <p:cNvPr id="3" name="img-80" descr="Switch-node voltage, gate voltages and sense-resistor voltage around the two fast ed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1143000"/>
            <a:ext cx="6400800" cy="5120640"/>
          </a:xfrm>
          <a:prstGeom prst="rect">
            <a:avLst/>
          </a:prstGeom>
        </p:spPr>
      </p:pic>
      <p:sp>
        <p:nvSpPr>
          <p:cNvPr id="4" name="note-81"/>
          <p:cNvSpPr txBox="1"/>
          <p:nvPr/>
        </p:nvSpPr>
        <p:spPr>
          <a:xfrm>
            <a:off x="457200" y="1188720"/>
            <a:ext cx="2148840" cy="10241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Hard edge, +5 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HS turn-on, 5.5 ns 10-90 %, 4.4 V/ns. (-2.5 A: LS turn-on, 4.3 ns, 5.6 V/ns.)</a:t>
            </a:r>
            <a:endParaRPr lang="en-US" sz="1200" dirty="0"/>
          </a:p>
        </p:txBody>
      </p:sp>
      <p:sp>
        <p:nvSpPr>
          <p:cNvPr id="5" name="arrow-82"/>
          <p:cNvSpPr/>
          <p:nvPr/>
        </p:nvSpPr>
        <p:spPr>
          <a:xfrm>
            <a:off x="2606040" y="2212848"/>
            <a:ext cx="1800728" cy="9663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6" name="note-83"/>
          <p:cNvSpPr txBox="1"/>
          <p:nvPr/>
        </p:nvSpPr>
        <p:spPr>
          <a:xfrm>
            <a:off x="457200" y="2441448"/>
            <a:ext cx="2148840" cy="84124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Dead time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200 ns; SW sits at -0.76 V on the LS body diode.</a:t>
            </a:r>
            <a:endParaRPr lang="en-US" sz="1200" dirty="0"/>
          </a:p>
        </p:txBody>
      </p:sp>
      <p:sp>
        <p:nvSpPr>
          <p:cNvPr id="7" name="arrow-84"/>
          <p:cNvSpPr/>
          <p:nvPr/>
        </p:nvSpPr>
        <p:spPr>
          <a:xfrm>
            <a:off x="2606040" y="2860975"/>
            <a:ext cx="1458925" cy="91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note-85"/>
          <p:cNvSpPr txBox="1"/>
          <p:nvPr/>
        </p:nvSpPr>
        <p:spPr>
          <a:xfrm>
            <a:off x="457200" y="3511296"/>
            <a:ext cx="2148840" cy="10241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Miller VGS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2.36 V on the off LS FET, VGS(th) min 2.3 V. Marginal at code 15.</a:t>
            </a:r>
            <a:endParaRPr lang="en-US" sz="1200" dirty="0"/>
          </a:p>
        </p:txBody>
      </p:sp>
      <p:sp>
        <p:nvSpPr>
          <p:cNvPr id="9" name="arrow-86"/>
          <p:cNvSpPr/>
          <p:nvPr/>
        </p:nvSpPr>
        <p:spPr>
          <a:xfrm>
            <a:off x="2606040" y="3838505"/>
            <a:ext cx="1809049" cy="91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note-87"/>
          <p:cNvSpPr txBox="1"/>
          <p:nvPr/>
        </p:nvSpPr>
        <p:spPr>
          <a:xfrm>
            <a:off x="9326880" y="1188720"/>
            <a:ext cx="2377440" cy="84124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Probe artefact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cm clip shows -6.2 V; true undershoot -2.5 V. Use the spring tip.</a:t>
            </a:r>
            <a:endParaRPr lang="en-US" sz="1200" dirty="0"/>
          </a:p>
        </p:txBody>
      </p:sp>
      <p:sp>
        <p:nvSpPr>
          <p:cNvPr id="11" name="arrow-88"/>
          <p:cNvSpPr/>
          <p:nvPr/>
        </p:nvSpPr>
        <p:spPr>
          <a:xfrm flipH="1">
            <a:off x="7603968" y="2029968"/>
            <a:ext cx="1722912" cy="84278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note-89"/>
          <p:cNvSpPr txBox="1"/>
          <p:nvPr/>
        </p:nvSpPr>
        <p:spPr>
          <a:xfrm>
            <a:off x="9326880" y="2258568"/>
            <a:ext cx="2377440" cy="84124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Ringing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~500 MHz with 0.5 nH/lead, above the 70 MHz BW. Vds peak 38.6 V.</a:t>
            </a:r>
            <a:endParaRPr lang="en-US" sz="1200" dirty="0"/>
          </a:p>
        </p:txBody>
      </p:sp>
      <p:sp>
        <p:nvSpPr>
          <p:cNvPr id="13" name="arrow-90"/>
          <p:cNvSpPr/>
          <p:nvPr/>
        </p:nvSpPr>
        <p:spPr>
          <a:xfrm flipH="1">
            <a:off x="7625090" y="2639763"/>
            <a:ext cx="1701790" cy="91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4" name="note-91"/>
          <p:cNvSpPr txBox="1"/>
          <p:nvPr/>
        </p:nvSpPr>
        <p:spPr>
          <a:xfrm>
            <a:off x="9326880" y="3328416"/>
            <a:ext cx="2377440" cy="84124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Shunt node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±1.4 V at the edges; back inside the CSA ±0.3 V range in ~0.5 µs.</a:t>
            </a:r>
            <a:endParaRPr lang="en-US" sz="1200" dirty="0"/>
          </a:p>
        </p:txBody>
      </p:sp>
      <p:sp>
        <p:nvSpPr>
          <p:cNvPr id="15" name="arrow-92"/>
          <p:cNvSpPr/>
          <p:nvPr/>
        </p:nvSpPr>
        <p:spPr>
          <a:xfrm flipH="1">
            <a:off x="7767828" y="4169664"/>
            <a:ext cx="1559052" cy="855805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Sim 2 · Half-bridge switching: bench vs sim</a:t>
            </a:r>
            <a:endParaRPr lang="en-US" sz="2600" dirty="0"/>
          </a:p>
        </p:txBody>
      </p:sp>
      <p:sp>
        <p:nvSpPr>
          <p:cNvPr id="3" name="text-93"/>
          <p:cNvSpPr txBox="1"/>
          <p:nvPr/>
        </p:nvSpPr>
        <p:spPr>
          <a:xfrm>
            <a:off x="457200" y="91440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compared with: 02b_leg_12V_bench.asc (deck 02 at 12 V, +0.8 / -0.4 A)</a:t>
            </a:r>
            <a:endParaRPr lang="en-US" sz="1100" dirty="0"/>
          </a:p>
        </p:txBody>
      </p:sp>
      <p:pic>
        <p:nvPicPr>
          <p:cNvPr id="4" name="img-94" descr="Bench switch-node edge at 12 V, 0.8 A, against sim 02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775" y="1188720"/>
            <a:ext cx="6343650" cy="5074920"/>
          </a:xfrm>
          <a:prstGeom prst="rect">
            <a:avLst/>
          </a:prstGeom>
        </p:spPr>
      </p:pic>
      <p:sp>
        <p:nvSpPr>
          <p:cNvPr id="5" name="note-95"/>
          <p:cNvSpPr txBox="1"/>
          <p:nvPr/>
        </p:nvSpPr>
        <p:spPr>
          <a:xfrm>
            <a:off x="7223760" y="1188720"/>
            <a:ext cx="448056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Dead time 200 ns at -0.71 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LS body diode conducts: current out of the leg, as modelled (sim -0.66 V).</a:t>
            </a:r>
            <a:endParaRPr lang="en-US" sz="1200" dirty="0"/>
          </a:p>
        </p:txBody>
      </p:sp>
      <p:sp>
        <p:nvSpPr>
          <p:cNvPr id="6" name="arrow-96"/>
          <p:cNvSpPr/>
          <p:nvPr/>
        </p:nvSpPr>
        <p:spPr>
          <a:xfrm flipH="1">
            <a:off x="2777101" y="1847088"/>
            <a:ext cx="4446659" cy="1321358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7" name="note-97"/>
          <p:cNvSpPr txBox="1"/>
          <p:nvPr/>
        </p:nvSpPr>
        <p:spPr>
          <a:xfrm>
            <a:off x="7223760" y="2011680"/>
            <a:ext cx="448056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Sim overshoot +2.6 V true, +3.3 V via probe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Pessimistic: 0.5 nH/lead and a 15 cm clip model; the bench used the spring tip.</a:t>
            </a:r>
            <a:endParaRPr lang="en-US" sz="1200" dirty="0"/>
          </a:p>
        </p:txBody>
      </p:sp>
      <p:sp>
        <p:nvSpPr>
          <p:cNvPr id="8" name="arrow-98"/>
          <p:cNvSpPr/>
          <p:nvPr/>
        </p:nvSpPr>
        <p:spPr>
          <a:xfrm flipH="1">
            <a:off x="2827851" y="2670048"/>
            <a:ext cx="4395909" cy="1376359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9" name="note-99"/>
          <p:cNvSpPr txBox="1"/>
          <p:nvPr/>
        </p:nvSpPr>
        <p:spPr>
          <a:xfrm>
            <a:off x="7223760" y="2834640"/>
            <a:ext cx="448056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Bench peak 13.87 V (+1.87 V)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Ring decays within ~150 ns. Fit Lpar to this next.</a:t>
            </a:r>
            <a:endParaRPr lang="en-US" sz="1200" dirty="0"/>
          </a:p>
        </p:txBody>
      </p:sp>
      <p:sp>
        <p:nvSpPr>
          <p:cNvPr id="10" name="arrow-100"/>
          <p:cNvSpPr/>
          <p:nvPr/>
        </p:nvSpPr>
        <p:spPr>
          <a:xfrm flipH="1">
            <a:off x="2929983" y="3493008"/>
            <a:ext cx="4293777" cy="692452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1" name="note-101"/>
          <p:cNvSpPr txBox="1"/>
          <p:nvPr/>
        </p:nvSpPr>
        <p:spPr>
          <a:xfrm>
            <a:off x="7223760" y="3657600"/>
            <a:ext cx="4480560" cy="84124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Slow wobble ~20 MHz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 in the sim: a larger loop (bulk caps through the supply leads), lumped as 10 nH in the deck.</a:t>
            </a:r>
            <a:endParaRPr lang="en-US" sz="1200" dirty="0"/>
          </a:p>
        </p:txBody>
      </p:sp>
      <p:sp>
        <p:nvSpPr>
          <p:cNvPr id="12" name="arrow-102"/>
          <p:cNvSpPr/>
          <p:nvPr/>
        </p:nvSpPr>
        <p:spPr>
          <a:xfrm flipH="1">
            <a:off x="4334467" y="4466103"/>
            <a:ext cx="2889293" cy="91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note-103"/>
          <p:cNvSpPr txBox="1"/>
          <p:nvPr/>
        </p:nvSpPr>
        <p:spPr>
          <a:xfrm>
            <a:off x="7223760" y="4663440"/>
            <a:ext cx="448056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Rise 8.8 ns, 1.09 V/ns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√(7.0² + 5²): the sim's 7.0 ns edge through the 70 MHz scope. Probe-model trace: 9.0 ns.</a:t>
            </a:r>
            <a:endParaRPr lang="en-US" sz="1200" dirty="0"/>
          </a:p>
        </p:txBody>
      </p:sp>
      <p:sp>
        <p:nvSpPr>
          <p:cNvPr id="14" name="arrow-104"/>
          <p:cNvSpPr/>
          <p:nvPr/>
        </p:nvSpPr>
        <p:spPr>
          <a:xfrm flipH="1">
            <a:off x="2272781" y="5020285"/>
            <a:ext cx="4950979" cy="91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Sim 3 · 5 A standstill hold: circuit</a:t>
            </a:r>
            <a:endParaRPr lang="en-US" sz="2600" dirty="0"/>
          </a:p>
        </p:txBody>
      </p:sp>
      <p:pic>
        <p:nvPicPr>
          <p:cNvPr id="3" name="img-105" descr="LTspice schematic of the three-phase standstill simul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717" y="2240280"/>
            <a:ext cx="10754085" cy="3291840"/>
          </a:xfrm>
          <a:prstGeom prst="rect">
            <a:avLst/>
          </a:prstGeom>
        </p:spPr>
      </p:pic>
      <p:sp>
        <p:nvSpPr>
          <p:cNvPr id="4" name="note-106"/>
          <p:cNvSpPr txBox="1"/>
          <p:nvPr/>
        </p:nvSpPr>
        <p:spPr>
          <a:xfrm>
            <a:off x="457200" y="1143000"/>
            <a:ext cx="310896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 on I_A (as RUN ID_R)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fc 1 kHz, feed-forward start. dA = 0.5+2u/3, dB = dC = 0.5-u/3.</a:t>
            </a:r>
            <a:endParaRPr lang="en-US" sz="1200" dirty="0"/>
          </a:p>
        </p:txBody>
      </p:sp>
      <p:sp>
        <p:nvSpPr>
          <p:cNvPr id="5" name="arrow-107"/>
          <p:cNvSpPr/>
          <p:nvPr/>
        </p:nvSpPr>
        <p:spPr>
          <a:xfrm>
            <a:off x="1726431" y="1801368"/>
            <a:ext cx="914" cy="2018008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6" name="note-108"/>
          <p:cNvSpPr txBox="1"/>
          <p:nvPr/>
        </p:nvSpPr>
        <p:spPr>
          <a:xfrm>
            <a:off x="4023360" y="1143000"/>
            <a:ext cx="274320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legs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Centre-aligned 25 kHz, 200 ns dead time.</a:t>
            </a:r>
            <a:endParaRPr lang="en-US" sz="1200" dirty="0"/>
          </a:p>
        </p:txBody>
      </p:sp>
      <p:sp>
        <p:nvSpPr>
          <p:cNvPr id="7" name="arrow-109"/>
          <p:cNvSpPr/>
          <p:nvPr/>
        </p:nvSpPr>
        <p:spPr>
          <a:xfrm>
            <a:off x="6042045" y="1801368"/>
            <a:ext cx="914" cy="118023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note-110"/>
          <p:cNvSpPr txBox="1"/>
          <p:nvPr/>
        </p:nvSpPr>
        <p:spPr>
          <a:xfrm>
            <a:off x="8595360" y="1143000"/>
            <a:ext cx="3108960" cy="84124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DRV8323 CSA model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 20, VREF/2, tSET 600 ns, clipped 0.25-3.05 V; 56 Ω / 2.2 nF to the ADC.</a:t>
            </a:r>
            <a:endParaRPr lang="en-US" sz="1200" dirty="0"/>
          </a:p>
        </p:txBody>
      </p:sp>
      <p:sp>
        <p:nvSpPr>
          <p:cNvPr id="9" name="arrow-111"/>
          <p:cNvSpPr/>
          <p:nvPr/>
        </p:nvSpPr>
        <p:spPr>
          <a:xfrm>
            <a:off x="8844560" y="1984248"/>
            <a:ext cx="914" cy="1034552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note-112"/>
          <p:cNvSpPr txBox="1"/>
          <p:nvPr/>
        </p:nvSpPr>
        <p:spPr>
          <a:xfrm>
            <a:off x="8595360" y="5577840"/>
            <a:ext cx="310896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MN601-S (firmware ID)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 98 mΩ, L = (Ld+Lq)/2 = 9.44 µH, star.</a:t>
            </a:r>
            <a:endParaRPr lang="en-US" sz="1200" dirty="0"/>
          </a:p>
        </p:txBody>
      </p:sp>
      <p:sp>
        <p:nvSpPr>
          <p:cNvPr id="11" name="arrow-113"/>
          <p:cNvSpPr/>
          <p:nvPr/>
        </p:nvSpPr>
        <p:spPr>
          <a:xfrm flipH="1" flipV="1">
            <a:off x="7420719" y="4976128"/>
            <a:ext cx="1174641" cy="601712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Sim 3 · 5 A standstill hold: result</a:t>
            </a:r>
            <a:endParaRPr lang="en-US" sz="2600" dirty="0"/>
          </a:p>
        </p:txBody>
      </p:sp>
      <p:pic>
        <p:nvPicPr>
          <p:cNvPr id="3" name="img-114" descr="Phase currents, current-sensor output and switch node over two switching cyc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" y="1143000"/>
            <a:ext cx="5600700" cy="5120640"/>
          </a:xfrm>
          <a:prstGeom prst="rect">
            <a:avLst/>
          </a:prstGeom>
        </p:spPr>
      </p:pic>
      <p:sp>
        <p:nvSpPr>
          <p:cNvPr id="4" name="note-115"/>
          <p:cNvSpPr txBox="1"/>
          <p:nvPr/>
        </p:nvSpPr>
        <p:spPr>
          <a:xfrm>
            <a:off x="6675120" y="1234440"/>
            <a:ext cx="502920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Ripple 1.10 A p-p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 5.00 A mean. Roughly V_applied·T/L, so nearly independent of Vbus at standstill.</a:t>
            </a:r>
            <a:endParaRPr lang="en-US" sz="1200" dirty="0"/>
          </a:p>
        </p:txBody>
      </p:sp>
      <p:sp>
        <p:nvSpPr>
          <p:cNvPr id="5" name="arrow-116"/>
          <p:cNvSpPr/>
          <p:nvPr/>
        </p:nvSpPr>
        <p:spPr>
          <a:xfrm flipH="1">
            <a:off x="1857649" y="1459968"/>
            <a:ext cx="4817471" cy="91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6" name="note-117"/>
          <p:cNvSpPr txBox="1"/>
          <p:nvPr/>
        </p:nvSpPr>
        <p:spPr>
          <a:xfrm>
            <a:off x="6675120" y="2167128"/>
            <a:ext cx="502920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SOA pulse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0.30 V (G·Rsh·I), present only in the LS window; the slope is the ripple.</a:t>
            </a:r>
            <a:endParaRPr lang="en-US" sz="1200" dirty="0"/>
          </a:p>
        </p:txBody>
      </p:sp>
      <p:sp>
        <p:nvSpPr>
          <p:cNvPr id="7" name="arrow-118"/>
          <p:cNvSpPr/>
          <p:nvPr/>
        </p:nvSpPr>
        <p:spPr>
          <a:xfrm flipH="1">
            <a:off x="4221705" y="2825496"/>
            <a:ext cx="2453415" cy="20190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note-119"/>
          <p:cNvSpPr txBox="1"/>
          <p:nvPr/>
        </p:nvSpPr>
        <p:spPr>
          <a:xfrm>
            <a:off x="6675120" y="3099816"/>
            <a:ext cx="502920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Sample at carrier peak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FILTER_SOA gives 4.988 A vs 4.974 A true: +0.28 %. Sampled mid-window, so it reads the mean.</a:t>
            </a:r>
            <a:endParaRPr lang="en-US" sz="1200" dirty="0"/>
          </a:p>
        </p:txBody>
      </p:sp>
      <p:sp>
        <p:nvSpPr>
          <p:cNvPr id="9" name="arrow-120"/>
          <p:cNvSpPr/>
          <p:nvPr/>
        </p:nvSpPr>
        <p:spPr>
          <a:xfrm flipH="1">
            <a:off x="4708406" y="3134929"/>
            <a:ext cx="1966714" cy="91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note-121"/>
          <p:cNvSpPr txBox="1"/>
          <p:nvPr/>
        </p:nvSpPr>
        <p:spPr>
          <a:xfrm>
            <a:off x="6675120" y="4032504"/>
            <a:ext cx="5029200" cy="4754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VREF/2 = 1.650 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 the HS conducts there is no shunt current.</a:t>
            </a:r>
            <a:endParaRPr lang="en-US" sz="1200" dirty="0"/>
          </a:p>
        </p:txBody>
      </p:sp>
      <p:sp>
        <p:nvSpPr>
          <p:cNvPr id="11" name="arrow-122"/>
          <p:cNvSpPr/>
          <p:nvPr/>
        </p:nvSpPr>
        <p:spPr>
          <a:xfrm flipH="1">
            <a:off x="5628041" y="4260958"/>
            <a:ext cx="1047079" cy="91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Sim 3 · Current sense: bench (I/f spin) vs sim</a:t>
            </a:r>
            <a:endParaRPr lang="en-US" sz="2600" dirty="0"/>
          </a:p>
        </p:txBody>
      </p:sp>
      <p:sp>
        <p:nvSpPr>
          <p:cNvPr id="3" name="text-123"/>
          <p:cNvSpPr txBox="1"/>
          <p:nvPr/>
        </p:nvSpPr>
        <p:spPr>
          <a:xfrm>
            <a:off x="457200" y="91440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compared with: 03c_standstill_12V_2A.asc (deck 03 at 12 V, 2 A)</a:t>
            </a:r>
            <a:endParaRPr lang="en-US" sz="1100" dirty="0"/>
          </a:p>
        </p:txBody>
      </p:sp>
      <p:pic>
        <p:nvPicPr>
          <p:cNvPr id="4" name="img-124" descr="Phase-A current reconstructed from the CSA output during an I/f spin, and one PWM period against sim 03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775" y="1188720"/>
            <a:ext cx="6343650" cy="5074920"/>
          </a:xfrm>
          <a:prstGeom prst="rect">
            <a:avLst/>
          </a:prstGeom>
        </p:spPr>
      </p:pic>
      <p:sp>
        <p:nvSpPr>
          <p:cNvPr id="5" name="note-125"/>
          <p:cNvSpPr txBox="1"/>
          <p:nvPr/>
        </p:nvSpPr>
        <p:spPr>
          <a:xfrm>
            <a:off x="7223760" y="1188720"/>
            <a:ext cx="448056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Envelope 2.04 A, 70.2 Hz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301 rpm at 14 pole pairs; REF IF 2 A 300 rpm. Offset -0.12 A.</a:t>
            </a:r>
            <a:endParaRPr lang="en-US" sz="1200" dirty="0"/>
          </a:p>
        </p:txBody>
      </p:sp>
      <p:sp>
        <p:nvSpPr>
          <p:cNvPr id="6" name="arrow-126"/>
          <p:cNvSpPr/>
          <p:nvPr/>
        </p:nvSpPr>
        <p:spPr>
          <a:xfrm flipH="1">
            <a:off x="2055828" y="1847088"/>
            <a:ext cx="5167932" cy="9491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7" name="note-127"/>
          <p:cNvSpPr txBox="1"/>
          <p:nvPr/>
        </p:nvSpPr>
        <p:spPr>
          <a:xfrm>
            <a:off x="7223760" y="1993392"/>
            <a:ext cx="448056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~20 Hz wobble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Open-loop I/f rotor swing, as already noted in the firmware.</a:t>
            </a:r>
            <a:endParaRPr lang="en-US" sz="1200" dirty="0"/>
          </a:p>
        </p:txBody>
      </p:sp>
      <p:sp>
        <p:nvSpPr>
          <p:cNvPr id="8" name="arrow-128"/>
          <p:cNvSpPr/>
          <p:nvPr/>
        </p:nvSpPr>
        <p:spPr>
          <a:xfrm flipH="1">
            <a:off x="3923399" y="2129610"/>
            <a:ext cx="3300361" cy="91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9" name="note-129"/>
          <p:cNvSpPr txBox="1"/>
          <p:nvPr/>
        </p:nvSpPr>
        <p:spPr>
          <a:xfrm>
            <a:off x="7223760" y="2798064"/>
            <a:ext cx="448056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Spike at window start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~1.82 V for ~1 µs: edge pickup + CSA settling. Settled long before the mid-window sample.</a:t>
            </a:r>
            <a:endParaRPr lang="en-US" sz="1200" dirty="0"/>
          </a:p>
        </p:txBody>
      </p:sp>
      <p:sp>
        <p:nvSpPr>
          <p:cNvPr id="10" name="arrow-130"/>
          <p:cNvSpPr/>
          <p:nvPr/>
        </p:nvSpPr>
        <p:spPr>
          <a:xfrm flipH="1">
            <a:off x="3251118" y="3456432"/>
            <a:ext cx="3972642" cy="72279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1" name="note-131"/>
          <p:cNvSpPr txBox="1"/>
          <p:nvPr/>
        </p:nvSpPr>
        <p:spPr>
          <a:xfrm>
            <a:off x="7223760" y="3602736"/>
            <a:ext cx="4480560" cy="4754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Pulse 112 mV vs sim 120 mV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LS window ~19 µs, ripple slope as in the sim.</a:t>
            </a:r>
            <a:endParaRPr lang="en-US" sz="1200" dirty="0"/>
          </a:p>
        </p:txBody>
      </p:sp>
      <p:sp>
        <p:nvSpPr>
          <p:cNvPr id="12" name="arrow-132"/>
          <p:cNvSpPr/>
          <p:nvPr/>
        </p:nvSpPr>
        <p:spPr>
          <a:xfrm flipH="1">
            <a:off x="3594798" y="4078224"/>
            <a:ext cx="3628962" cy="460451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note-133"/>
          <p:cNvSpPr txBox="1"/>
          <p:nvPr/>
        </p:nvSpPr>
        <p:spPr>
          <a:xfrm>
            <a:off x="7223760" y="4224528"/>
            <a:ext cx="448056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Baseline 1.646 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the CSA_CAL offset (offA 1646 mV); HS windows within 3.7 mV.</a:t>
            </a:r>
            <a:endParaRPr lang="en-US" sz="1200" dirty="0"/>
          </a:p>
        </p:txBody>
      </p:sp>
      <p:sp>
        <p:nvSpPr>
          <p:cNvPr id="14" name="arrow-134"/>
          <p:cNvSpPr/>
          <p:nvPr/>
        </p:nvSpPr>
        <p:spPr>
          <a:xfrm flipH="1">
            <a:off x="2062172" y="4882896"/>
            <a:ext cx="5161588" cy="433256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note-135"/>
          <p:cNvSpPr txBox="1"/>
          <p:nvPr/>
        </p:nvSpPr>
        <p:spPr>
          <a:xfrm>
            <a:off x="7223760" y="5440680"/>
            <a:ext cx="4480560" cy="84124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 IF_SPIN + REF IF 2 300 over UART (FOCLink CLI, user-approved), 12 V, motor clamped. TP20, 20 MHz BWL, 20 ms at 3.2 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System architecture</a:t>
            </a:r>
            <a:endParaRPr lang="en-US" sz="2600" dirty="0"/>
          </a:p>
        </p:txBody>
      </p:sp>
      <p:pic>
        <p:nvPicPr>
          <p:cNvPr id="3" name="img-136" descr="KiCad top-level architecture she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30855"/>
            <a:ext cx="7498080" cy="4344930"/>
          </a:xfrm>
          <a:prstGeom prst="rect">
            <a:avLst/>
          </a:prstGeom>
        </p:spPr>
      </p:pic>
      <p:sp>
        <p:nvSpPr>
          <p:cNvPr id="4" name="lines-137"/>
          <p:cNvSpPr txBox="1"/>
          <p:nvPr/>
        </p:nvSpPr>
        <p:spPr>
          <a:xfrm>
            <a:off x="8229600" y="1280160"/>
            <a:ext cx="3474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Hierarchical KiCad 10 project, 12 functional sheets.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12S bus (44.4 V nom, 56 V max). TVS-only input; hot-swap and inrush moved to a shared battery box.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LMR36520 buck to 5 V, TLV757 LDO to 3V3.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STM32G431 + DRV8323S + 3-shunt low-side sensing + AS5047P + CAN-FD.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Three-phase bridge</a:t>
            </a:r>
            <a:endParaRPr lang="en-US" sz="2600" dirty="0"/>
          </a:p>
        </p:txBody>
      </p:sp>
      <p:pic>
        <p:nvPicPr>
          <p:cNvPr id="3" name="img-138" descr="KiCad MOSFET three-phase bridge she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46417"/>
            <a:ext cx="7498080" cy="4513806"/>
          </a:xfrm>
          <a:prstGeom prst="rect">
            <a:avLst/>
          </a:prstGeom>
        </p:spPr>
      </p:pic>
      <p:sp>
        <p:nvSpPr>
          <p:cNvPr id="4" name="lines-139"/>
          <p:cNvSpPr txBox="1"/>
          <p:nvPr/>
        </p:nvSpPr>
        <p:spPr>
          <a:xfrm>
            <a:off x="8229600" y="1280160"/>
            <a:ext cx="3474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ISC030N10NM6: 100 V, 3.0 mΩ max, Qg 55 nC, Qgd 14 nC max.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Voltage rating checked first, against the worst-case bus transient.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1.5 mΩ IPT015N10N5 lost on total loss (5.65 vs 4.27 W): at this current and f_sw, Qgd-driven switching loss dominates.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3x 3 mΩ low-side shunts, Kelvin net ties: ±27.5 A full scale at G = 20.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3.9 Ω + 2.2 nF snubbers; 100 nF per leg from +VPROT to the shunt top.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3D render</a:t>
            </a:r>
            <a:endParaRPr lang="en-US" sz="2600" dirty="0"/>
          </a:p>
        </p:txBody>
      </p:sp>
      <p:pic>
        <p:nvPicPr>
          <p:cNvPr id="3" name="img-140" descr="3D render, top s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297680" cy="4297680"/>
          </a:xfrm>
          <a:prstGeom prst="rect">
            <a:avLst/>
          </a:prstGeom>
        </p:spPr>
      </p:pic>
      <p:pic>
        <p:nvPicPr>
          <p:cNvPr id="4" name="img-141" descr="3D render, bottom si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43000"/>
            <a:ext cx="4297680" cy="4297680"/>
          </a:xfrm>
          <a:prstGeom prst="rect">
            <a:avLst/>
          </a:prstGeom>
        </p:spPr>
      </p:pic>
      <p:sp>
        <p:nvSpPr>
          <p:cNvPr id="5" name="text-142"/>
          <p:cNvSpPr txBox="1"/>
          <p:nvPr/>
        </p:nvSpPr>
        <p:spPr>
          <a:xfrm>
            <a:off x="457200" y="5532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F.Cu</a:t>
            </a:r>
            <a:endParaRPr lang="en-US" sz="1200" dirty="0"/>
          </a:p>
        </p:txBody>
      </p:sp>
      <p:sp>
        <p:nvSpPr>
          <p:cNvPr id="6" name="text-143"/>
          <p:cNvSpPr txBox="1"/>
          <p:nvPr/>
        </p:nvSpPr>
        <p:spPr>
          <a:xfrm>
            <a:off x="4937760" y="5532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B.Cu (mirrored)</a:t>
            </a:r>
            <a:endParaRPr lang="en-US" sz="1200" dirty="0"/>
          </a:p>
        </p:txBody>
      </p:sp>
      <p:sp>
        <p:nvSpPr>
          <p:cNvPr id="7" name="lines-144"/>
          <p:cNvSpPr txBox="1"/>
          <p:nvPr/>
        </p:nvSpPr>
        <p:spPr>
          <a:xfrm>
            <a:off x="9509760" y="12801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70 x 70 mm, 6 layers, L2/L5 solid GND.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Bus and phases on the top edge; JST GH along the bottom.</a:t>
            </a:r>
            <a:endParaRPr lang="en-US" sz="1200" dirty="0"/>
          </a:p>
        </p:txBody>
      </p:sp>
      <p:sp>
        <p:nvSpPr>
          <p:cNvPr id="8" name="note-145"/>
          <p:cNvSpPr txBox="1"/>
          <p:nvPr/>
        </p:nvSpPr>
        <p:spPr>
          <a:xfrm>
            <a:off x="9509760" y="2606040"/>
            <a:ext cx="2194560" cy="65836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D1 SMCJ51CA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1500 W bidirectional TVS on +VPROT.</a:t>
            </a:r>
            <a:endParaRPr lang="en-US" sz="1200" dirty="0"/>
          </a:p>
        </p:txBody>
      </p:sp>
      <p:sp>
        <p:nvSpPr>
          <p:cNvPr id="9" name="arrow-146"/>
          <p:cNvSpPr/>
          <p:nvPr/>
        </p:nvSpPr>
        <p:spPr>
          <a:xfrm flipH="1" flipV="1">
            <a:off x="5551714" y="2355560"/>
            <a:ext cx="3958046" cy="25048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note-147"/>
          <p:cNvSpPr txBox="1"/>
          <p:nvPr/>
        </p:nvSpPr>
        <p:spPr>
          <a:xfrm>
            <a:off x="9509760" y="3749040"/>
            <a:ext cx="2194560" cy="10241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38100" tIns="63500" rIns="63500" bIns="381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U1 AS5047P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14-bit, SPI, centred on the rotor axis under the shaft magnet.</a:t>
            </a:r>
            <a:endParaRPr lang="en-US" sz="1200" dirty="0"/>
          </a:p>
        </p:txBody>
      </p:sp>
      <p:sp>
        <p:nvSpPr>
          <p:cNvPr id="11" name="arrow-148"/>
          <p:cNvSpPr/>
          <p:nvPr/>
        </p:nvSpPr>
        <p:spPr>
          <a:xfrm flipH="1" flipV="1">
            <a:off x="7086600" y="3291840"/>
            <a:ext cx="242316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PCB layout</a:t>
            </a:r>
            <a:endParaRPr lang="en-US" sz="2600" dirty="0"/>
          </a:p>
        </p:txBody>
      </p:sp>
      <p:pic>
        <p:nvPicPr>
          <p:cNvPr id="3" name="img-149" descr="Top copper layer and silk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297680" cy="4297680"/>
          </a:xfrm>
          <a:prstGeom prst="rect">
            <a:avLst/>
          </a:prstGeom>
        </p:spPr>
      </p:pic>
      <p:pic>
        <p:nvPicPr>
          <p:cNvPr id="4" name="img-150" descr="Bottom copper layer and silkscreen, mirror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43000"/>
            <a:ext cx="4297680" cy="4297680"/>
          </a:xfrm>
          <a:prstGeom prst="rect">
            <a:avLst/>
          </a:prstGeom>
        </p:spPr>
      </p:pic>
      <p:sp>
        <p:nvSpPr>
          <p:cNvPr id="5" name="text-151"/>
          <p:cNvSpPr txBox="1"/>
          <p:nvPr/>
        </p:nvSpPr>
        <p:spPr>
          <a:xfrm>
            <a:off x="457200" y="5532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F.Cu + F.Silkscreen</a:t>
            </a:r>
            <a:endParaRPr lang="en-US" sz="1200" dirty="0"/>
          </a:p>
        </p:txBody>
      </p:sp>
      <p:sp>
        <p:nvSpPr>
          <p:cNvPr id="6" name="text-152"/>
          <p:cNvSpPr txBox="1"/>
          <p:nvPr/>
        </p:nvSpPr>
        <p:spPr>
          <a:xfrm>
            <a:off x="4937760" y="5532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B.Cu + B.Silkscreen (mirrored)</a:t>
            </a:r>
            <a:endParaRPr lang="en-US" sz="1200" dirty="0"/>
          </a:p>
        </p:txBody>
      </p:sp>
      <p:sp>
        <p:nvSpPr>
          <p:cNvPr id="7" name="lines-153"/>
          <p:cNvSpPr txBox="1"/>
          <p:nvPr/>
        </p:nvSpPr>
        <p:spPr>
          <a:xfrm>
            <a:off x="9509760" y="1280160"/>
            <a:ext cx="21945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and bus current in outer-layer pours.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DRV8323 next to the bridge: short GHx/SHx and GLx loops.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Per-leg 4.7 µF + 100 nF keep the commutation loop small. Sim 2 assumes 0.5 nH per lead: check it against the measured ring.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Assembled board</a:t>
            </a:r>
            <a:endParaRPr lang="en-US" sz="2600" dirty="0"/>
          </a:p>
        </p:txBody>
      </p:sp>
      <p:sp>
        <p:nvSpPr>
          <p:cNvPr id="3" name="Text 3"/>
          <p:cNvSpPr/>
          <p:nvPr>
            <p:ph idx="106" type="body" hasCustomPrompt="1"/>
          </p:nvPr>
        </p:nvSpPr>
        <p:spPr>
          <a:xfrm>
            <a:off x="457200" y="5806440"/>
            <a:ext cx="54864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top</a:t>
            </a:r>
            <a:endParaRPr lang="en-US" sz="1200" dirty="0"/>
          </a:p>
        </p:txBody>
      </p:sp>
      <p:sp>
        <p:nvSpPr>
          <p:cNvPr id="4" name="Text 3"/>
          <p:cNvSpPr/>
          <p:nvPr>
            <p:ph idx="107" type="body" hasCustomPrompt="1"/>
          </p:nvPr>
        </p:nvSpPr>
        <p:spPr>
          <a:xfrm>
            <a:off x="6245352" y="5806440"/>
            <a:ext cx="54864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bottom</a:t>
            </a:r>
            <a:endParaRPr lang="en-US" sz="1200" dirty="0"/>
          </a:p>
        </p:txBody>
      </p:sp>
      <p:sp>
        <p:nvSpPr>
          <p:cNvPr id="5" name="Text 3"/>
          <p:cNvSpPr/>
          <p:nvPr>
            <p:ph idx="104" hasCustomPrompt="1"/>
          </p:nvPr>
        </p:nvSpPr>
        <p:spPr>
          <a:xfrm>
            <a:off x="457200" y="1234440"/>
            <a:ext cx="5486400" cy="44805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>
            <p:ph idx="105" hasCustomPrompt="1"/>
          </p:nvPr>
        </p:nvSpPr>
        <p:spPr>
          <a:xfrm>
            <a:off x="6245352" y="1234440"/>
            <a:ext cx="5486400" cy="44805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Bench</a:t>
            </a:r>
            <a:endParaRPr lang="en-US" sz="26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8412480" y="1234440"/>
            <a:ext cx="32918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equipment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Rigol DHO804: 4 ch, 70 MHz, 1.25 GSa/s, 12-bit. USB SCPI to the host (pyvisa-py).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10x passive probes, spring ground tips.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Korad KA3005P: 0-30 V / 0-5 A linear. Cannot sink.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EEVblog BM235 DMM.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USB-UART bridge to the board (GUI).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ST-LINK (SWD) for flashing.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T-Motor MN601-S KV320, clamped.</a:t>
            </a:r>
            <a:endParaRPr lang="en-US" sz="1400" dirty="0"/>
          </a:p>
        </p:txBody>
      </p:sp>
      <p:sp>
        <p:nvSpPr>
          <p:cNvPr id="4" name="Text 2"/>
          <p:cNvSpPr/>
          <p:nvPr>
            <p:ph idx="103" hasCustomPrompt="1"/>
          </p:nvPr>
        </p:nvSpPr>
        <p:spPr>
          <a:xfrm>
            <a:off x="457200" y="1234440"/>
            <a:ext cx="7680960" cy="4937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Next: measure and compare</a:t>
            </a:r>
            <a:endParaRPr lang="en-US" sz="2600" dirty="0"/>
          </a:p>
        </p:txBody>
      </p:sp>
      <p:sp>
        <p:nvSpPr>
          <p:cNvPr id="3" name="lines-154"/>
          <p:cNvSpPr txBox="1"/>
          <p:nvPr/>
        </p:nvSpPr>
        <p:spPr>
          <a:xfrm>
            <a:off x="457200" y="1280160"/>
            <a:ext cx="68580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 Hot-plug: done (runs 4-5). Peak 30.15 V, no overshoot; charge is supply-limited, τ ≈ 6.5 ms. Update the deck 01 source model to match.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 Edges: done at 12 V (RUN ID_R, 0.8 A; firmware caps switching at 12 V). Rise matches the sim through 70 MHz; overshoot below the sim. Fit Lpar.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 CSA: done at 12 V via an I/f spin (2 A, 300 rpm): 2.04 A, 301 rpm; pulse 112 vs 120 mV sim. Scale cross-check: ID_R 99-101 mΩ vs DC 98 mΩ.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Tests 2-3 ran at 12 V: the approved firmware scopes cap switching at 12 V. 30 V switching needs a reviewed scope change.</a:t>
            </a:r>
            <a:endParaRPr lang="en-US" sz="1400" dirty="0"/>
          </a:p>
        </p:txBody>
      </p:sp>
      <p:sp>
        <p:nvSpPr>
          <p:cNvPr id="4" name="numbers-155"/>
          <p:cNvSpPr txBox="1"/>
          <p:nvPr/>
        </p:nvSpPr>
        <p:spPr>
          <a:xfrm>
            <a:off x="7635240" y="4160520"/>
            <a:ext cx="4069080" cy="201168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lIns="63500" tIns="76200" rIns="76200" bIns="6350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predicted (and measured) values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hot-plug peak      36.3 V sim, 30.15 V meas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edge, +5 A HS on   5.5 ns, 4.4 V/ns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edge, 12 V 0.8 A   7.0 ns sim, 8.8 ns meas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edge, -2.5 A LS on 4.3 ns, 5.6 V/ns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Vds peak           38.6 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Miller VGS (LS)    2.36 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ripple             1.10 A p-p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CSA error          +0.28 %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CSA pulse, 2 A     120 mV sim, 112 mV meas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supply current     0.140 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in Mono">
  <a:themeElements>
    <a:clrScheme name="Plain Mono">
      <a:dk1>
        <a:srgbClr val="000000"/>
      </a:dk1>
      <a:lt1>
        <a:srgbClr val="FFFFFF"/>
      </a:lt1>
      <a:dk2>
        <a:srgbClr val="000000"/>
      </a:dk2>
      <a:lt2>
        <a:srgbClr val="F2F2F2"/>
      </a:lt2>
      <a:accent1>
        <a:srgbClr val="000000"/>
      </a:accent1>
      <a:accent2>
        <a:srgbClr val="404040"/>
      </a:accent2>
      <a:accent3>
        <a:srgbClr val="808080"/>
      </a:accent3>
      <a:accent4>
        <a:srgbClr val="A6A6A6"/>
      </a:accent4>
      <a:accent5>
        <a:srgbClr val="595959"/>
      </a:accent5>
      <a:accent6>
        <a:srgbClr val="7F7F7F"/>
      </a:accent6>
      <a:hlink>
        <a:srgbClr val="000000"/>
      </a:hlink>
      <a:folHlink>
        <a:srgbClr val="595959"/>
      </a:folHlink>
    </a:clrScheme>
    <a:fontScheme name="Plain Mono">
      <a:majorFont>
        <a:latin typeface="JetBrains Mono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JetBrains Mon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FOC Motor Controller - simulation and design</dc:title>
  <dc:subject>PptxGenJS Presentation</dc:subject>
  <dc:creator>PptxGenJS</dc:creator>
  <cp:lastModifiedBy>PptxGenJS</cp:lastModifiedBy>
  <cp:revision>1</cp:revision>
  <dcterms:created xsi:type="dcterms:W3CDTF">2026-10-30T09:27:32Z</dcterms:created>
  <dcterms:modified xsi:type="dcterms:W3CDTF">2026-10-30T09:27:32Z</dcterms:modified>
</cp:coreProperties>
</file>